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789920" cy="64008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基于双栅 IGZO TFT 的二维器件模型与单极性逻辑教学 PDK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9601200" cy="45720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200" b="0">
                <a:solidFill>
                  <a:srgbClr val="B6E0E0"/>
                </a:solidFill>
                <a:latin typeface="Microsoft YaHei"/>
              </a:rPr>
              <a:t>课程项目阶段性报告与可复现证据汇总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3337560" cy="141732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834640"/>
            <a:ext cx="308152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5DCAC2"/>
                </a:solidFill>
                <a:latin typeface="Microsoft YaHei"/>
              </a:rPr>
              <a:t>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3218688"/>
            <a:ext cx="3081528" cy="85039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仅 n 型 IGZO；二维优先；普通笔记本可运行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337560" cy="141732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2834640"/>
            <a:ext cx="308152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5DCAC2"/>
                </a:solidFill>
                <a:latin typeface="Microsoft YaHei"/>
              </a:rPr>
              <a:t>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3218688"/>
            <a:ext cx="3081528" cy="85039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E2/E3 教学模型数值闭环；失败结果原样保留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743200"/>
            <a:ext cx="3337560" cy="141732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2834640"/>
            <a:ext cx="308152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EFA675"/>
                </a:solidFill>
                <a:latin typeface="Microsoft YaHei"/>
              </a:rPr>
              <a:t>当前门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3218688"/>
            <a:ext cx="3081528" cy="85039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C00 R04 锚点未通过，G3 关闭，后续电路与版图关闭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698480" cy="41148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300" b="0">
                <a:solidFill>
                  <a:srgbClr val="BECCD2"/>
                </a:solidFill>
                <a:latin typeface="Microsoft YaHei"/>
              </a:rPr>
              <a:t>提交版本：4d18f0b | 2026-08-04 | main 与 origin/main 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研究问题与阶段边界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把二维双栅器件证据推进到可审计的模型和逻辑评估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74720" cy="182880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17320"/>
            <a:ext cx="3218687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器件层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01368"/>
            <a:ext cx="3218687" cy="126187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双栅 IGZO 漂移扩散与准静态陷阱耦合
输出：Id-Vg、Id-Vd、状态和守恒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17320"/>
            <a:ext cx="3218687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模型层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801368"/>
            <a:ext cx="3218687" cy="126187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教学紧凑模型与 ngspice/GPL-Xyce 两路线
输出：训练/验证误差与路线差异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474720" cy="182880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18687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电路层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01368"/>
            <a:ext cx="3218687" cy="126187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双栅 IGZO 有源负载单极性反相器
输出：VTC、延迟、功耗和逻辑门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69848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800" b="1">
                <a:solidFill>
                  <a:srgbClr val="142336"/>
                </a:solidFill>
                <a:latin typeface="Microsoft YaHei"/>
              </a:rPr>
              <a:t>阶段门原则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1060704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A33"/>
                </a:solidFill>
                <a:latin typeface="Microsoft YaHei"/>
              </a:defRPr>
            </a:pPr>
            <a:r>
              <a:t>没有通过 C00，不能把环振、全加器或版图结果写成已验证。</a:t>
            </a:r>
          </a:p>
          <a:p>
            <a:pPr>
              <a:spcAft>
                <a:spcPts val="900"/>
              </a:spcAft>
              <a:defRPr sz="1800">
                <a:solidFill>
                  <a:srgbClr val="1F2A33"/>
                </a:solidFill>
                <a:latin typeface="Microsoft YaHei"/>
              </a:defRPr>
            </a:pPr>
            <a:r>
              <a:t>没有实验数据时，所有参数和趋势均限定为教学模型或文献约束敏感性。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双栅 IGZO 器件与模型边界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二维结果为主，模型结果只在冻结教学域内解释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029200" cy="36576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900" b="1">
                <a:solidFill>
                  <a:srgbClr val="142336"/>
                </a:solidFill>
                <a:latin typeface="Microsoft YaHei"/>
              </a:rPr>
              <a:t>结构与耦合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80060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n 型 IGZO；底栅/顶栅双介质耦合。</a:t>
            </a:r>
          </a:p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二维漂移扩散、准静态陷阱电荷和电流守恒。</a:t>
            </a:r>
          </a:p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Al2O3 物理厚度与 SPICE 有效 TOX 分开记录。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234440"/>
            <a:ext cx="5120640" cy="36576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900" b="1">
                <a:solidFill>
                  <a:srgbClr val="142336"/>
                </a:solidFill>
                <a:latin typeface="Microsoft YaHei"/>
              </a:rPr>
              <a:t>模型有效域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91640"/>
            <a:ext cx="2377440" cy="123444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7336" y="1783080"/>
            <a:ext cx="212140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温度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167128"/>
            <a:ext cx="2121408" cy="66751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300 K 名义教学模型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691640"/>
            <a:ext cx="2377440" cy="123444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9096" y="1783080"/>
            <a:ext cx="212140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VDS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9096" y="2167128"/>
            <a:ext cx="2121408" cy="66751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0 至 0.2 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3154680"/>
            <a:ext cx="2377440" cy="123444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3246120"/>
            <a:ext cx="212140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长度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3630168"/>
            <a:ext cx="2121408" cy="66751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8 至 12 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154680"/>
            <a:ext cx="2377440" cy="123444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9096" y="3246120"/>
            <a:ext cx="212140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材料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3630168"/>
            <a:ext cx="2121408" cy="66751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IGZO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10241280" cy="59436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000" b="1">
                <a:solidFill>
                  <a:srgbClr val="B83838"/>
                </a:solidFill>
                <a:latin typeface="Microsoft YaHei"/>
              </a:rPr>
              <a:t>禁止外推：实验拟合、真实迁移率/DOS/接触参数、完整 P2/T03 物理结论。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双栅基线：从器件到耦合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T02 关闭冻结教学模型的双向偏压与耦合数值门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cad_t02_c_bidirectional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629400" cy="4910667"/>
          </a:xfrm>
          <a:prstGeom prst="rect">
            <a:avLst/>
          </a:prstGeom>
        </p:spPr>
      </p:pic>
      <p:pic>
        <p:nvPicPr>
          <p:cNvPr id="8" name="Picture 7" descr="tcad_t02_c_stat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34440"/>
            <a:ext cx="4069080" cy="29791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623560"/>
            <a:ext cx="1078992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500" b="0">
                <a:solidFill>
                  <a:srgbClr val="5C6971"/>
                </a:solidFill>
                <a:latin typeface="Microsoft YaHei"/>
              </a:rPr>
              <a:t>T02-C：318 次 DC、248 点和 6 个状态；双向曲线、回程和耦合指标由独立检查复算。证据等级 E2（合同 E3）。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T03 敏感性结果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五组参数均限定为冻结 IGZO 教学模型内的数值代理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cad_t03_p1_bia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3703320" cy="2743200"/>
          </a:xfrm>
          <a:prstGeom prst="rect">
            <a:avLst/>
          </a:prstGeom>
        </p:spPr>
      </p:pic>
      <p:pic>
        <p:nvPicPr>
          <p:cNvPr id="8" name="Picture 7" descr="tcad_t03_p2_bulk_traps_formal_v3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43000"/>
            <a:ext cx="3703320" cy="2335940"/>
          </a:xfrm>
          <a:prstGeom prst="rect">
            <a:avLst/>
          </a:prstGeom>
        </p:spPr>
      </p:pic>
      <p:pic>
        <p:nvPicPr>
          <p:cNvPr id="9" name="Picture 8" descr="tcad_t03_p5_temperature_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143000"/>
            <a:ext cx="370332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669280"/>
            <a:ext cx="1069848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500" b="0">
                <a:solidFill>
                  <a:srgbClr val="5C6971"/>
                </a:solidFill>
                <a:latin typeface="Microsoft YaHei"/>
              </a:rPr>
              <a:t>P1/P2/P3/P4/P5 正式运行与独立检查均已按阶段门闭环；方向是数值诊断，不是物理机制或实验校准。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M00/M01：紧凑模型与两路线对照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结果可复现，但仍是行为等效教学候选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00_compact_model_fit_r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120640" cy="2218944"/>
          </a:xfrm>
          <a:prstGeom prst="rect">
            <a:avLst/>
          </a:prstGeom>
        </p:spPr>
      </p:pic>
      <p:pic>
        <p:nvPicPr>
          <p:cNvPr id="8" name="Picture 7" descr="m01_open_source_cross_check_r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34440"/>
            <a:ext cx="5577840" cy="43825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074920"/>
            <a:ext cx="3383280" cy="82296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166359"/>
            <a:ext cx="312724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M00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550408"/>
            <a:ext cx="3127248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R02 runner E2 / 独立 E3；仅关闭冻结数值域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5074920"/>
            <a:ext cx="3383280" cy="82296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5166359"/>
            <a:ext cx="312724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M01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5550408"/>
            <a:ext cx="3127248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ngspice + GPL Xyce；两路线教学候选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5074920"/>
            <a:ext cx="3383280" cy="82296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5166359"/>
            <a:ext cx="312724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5550408"/>
            <a:ext cx="3127248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不等同方程身份或真实器件参数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C00 R04：完整执行但锚点失败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这是一条真实的电路阶段门负结果，不是工具崩溃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00_active_load_inverter_vtc_r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858000" cy="29391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325880"/>
            <a:ext cx="3794760" cy="109728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8976" y="1417320"/>
            <a:ext cx="353872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执行证据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6" y="1801368"/>
            <a:ext cx="3538728" cy="53035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ngspice/Xyce 各 DC + 瞬态，共 4 个串行进程，均返回 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651760"/>
            <a:ext cx="3794760" cy="109728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8976" y="2743200"/>
            <a:ext cx="353872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锚点结果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6" y="3127248"/>
            <a:ext cx="3538728" cy="53035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VOH 约 0.0912 V；VOL 约 0.0206 V；最大增益约 0.884。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977639"/>
            <a:ext cx="3794760" cy="109728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4069079"/>
            <a:ext cx="353872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失败门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4453127"/>
            <a:ext cx="3538728" cy="53035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0 个单位增益交点；无 VIL/VIH/NM；静态锚点不合格。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10789920" cy="38404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33/36 E0/FAIL；所有原始输出、表、差异、图和哈希均保留。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C00 瞬态与 G3 阶段门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没有把缺失 crossing 伪装成延迟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00_active_load_inverter_transient_r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315200" cy="41801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325880"/>
            <a:ext cx="333756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输出约 0.022–0.057 V。</a:t>
            </a:r>
          </a:p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rise/fall crossing 均不存在。</a:t>
            </a:r>
          </a:p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tPHL/tPLH 保留为空，不插值、不估算。</a:t>
            </a:r>
          </a:p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因此 C00 未通过，C01/C02/C03、版图和 PEX 关闭。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4754880"/>
            <a:ext cx="315468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000" b="1">
                <a:solidFill>
                  <a:srgbClr val="B83838"/>
                </a:solidFill>
                <a:latin typeface="Microsoft YaHei"/>
              </a:rPr>
              <a:t>结论：设计点不满足预注册逻辑门，而不是仿真器不收敛。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交付边界与风险控制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当前版本适合课程提交，不能冒充流片级 PDK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74720" cy="182880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325880"/>
            <a:ext cx="3218687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709928"/>
            <a:ext cx="3218687" cy="126187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二维器件数值
T03 五组敏感性
M00/M01 教学模型
完整证据矩阵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74720" cy="182880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325880"/>
            <a:ext cx="3218687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明确未完成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709928"/>
            <a:ext cx="3218687" cy="126187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合格 C00 反相器
组合逻辑与环振
版图/LVS/PEX
HZO 铁电扩展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74720" cy="182880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325880"/>
            <a:ext cx="3218687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7722"/>
                </a:solidFill>
                <a:latin typeface="Microsoft YaHei"/>
              </a:rPr>
              <a:t>不能夸大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09928"/>
            <a:ext cx="3218687" cy="126187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实验校准
物理参数提取
工艺签核
真实工作频率与可靠性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000" b="1">
                <a:solidFill>
                  <a:srgbClr val="142336"/>
                </a:solidFill>
                <a:latin typeface="Microsoft YaHei"/>
              </a:rPr>
              <a:t>阶段门策略把失败保留下来，避免用后续占位结果掩盖当前电路不可用。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24128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下一轮 R05 必须重新预注册设计变量与锚点，再独立运行；不能回写 R04。</a:t>
            </a:r>
          </a:p>
          <a:p>
            <a:pPr>
              <a:spcAft>
                <a:spcPts val="900"/>
              </a:spcAft>
              <a:defRPr sz="1700">
                <a:solidFill>
                  <a:srgbClr val="1F2A33"/>
                </a:solidFill>
                <a:latin typeface="Microsoft YaHei"/>
              </a:defRPr>
            </a:pPr>
            <a:r>
              <a:t>本次提交版本、报告和哈希链可从 Git 提交 4d18f0b 复现。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700" b="1">
                <a:solidFill>
                  <a:srgbClr val="142336"/>
                </a:solidFill>
                <a:latin typeface="Microsoft YaHei"/>
              </a:rPr>
              <a:t>最终结论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100" b="0">
                <a:solidFill>
                  <a:srgbClr val="5C6971"/>
                </a:solidFill>
                <a:latin typeface="Microsoft YaHei"/>
              </a:rPr>
              <a:t>以可复现、边界清晰的结果完成课程交付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5603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r"/>
            <a:r>
              <a:rPr sz="1200" b="1">
                <a:solidFill>
                  <a:srgbClr val="008080"/>
                </a:solidFill>
                <a:latin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547104"/>
            <a:ext cx="11137392" cy="9144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515600" cy="5029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400" b="1">
                <a:solidFill>
                  <a:srgbClr val="142336"/>
                </a:solidFill>
                <a:latin typeface="Microsoft YaHei"/>
              </a:rPr>
              <a:t>双栅 IGZO 二维教学 PDK 的器件与模型主线已闭环；有源负载逻辑在冻结锚点上被数据判定为不合格。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429000" cy="155448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331720"/>
            <a:ext cx="317296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贡献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715768"/>
            <a:ext cx="3172968" cy="98755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建立二维双栅 IGZO 器件、陷阱与敏感性证据链。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155448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331720"/>
            <a:ext cx="317296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008080"/>
                </a:solidFill>
                <a:latin typeface="Microsoft YaHei"/>
              </a:rPr>
              <a:t>贡献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715768"/>
            <a:ext cx="3172968" cy="98755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建立可复核的行为紧凑模型和开源两路线对照。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240280"/>
            <a:ext cx="3429000" cy="1554480"/>
          </a:xfrm>
          <a:prstGeom prst="roundRect">
            <a:avLst/>
          </a:prstGeom>
          <a:solidFill>
            <a:srgbClr val="F1F6F7"/>
          </a:solidFill>
          <a:ln w="10160">
            <a:solidFill>
              <a:srgbClr val="D2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6" y="2331720"/>
            <a:ext cx="3172968" cy="310896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600" b="1">
                <a:solidFill>
                  <a:srgbClr val="B83838"/>
                </a:solidFill>
                <a:latin typeface="Microsoft YaHei"/>
              </a:rPr>
              <a:t>贡献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2715768"/>
            <a:ext cx="3172968" cy="987552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400" b="0">
                <a:solidFill>
                  <a:srgbClr val="1F2A33"/>
                </a:solidFill>
                <a:latin typeface="Microsoft YaHei"/>
              </a:rPr>
              <a:t>用正式 C00 失败暴露设计裕量不足并关闭下游门。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241280" cy="54864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2100" b="1">
                <a:solidFill>
                  <a:srgbClr val="1F2A33"/>
                </a:solidFill>
                <a:latin typeface="Microsoft YaHei"/>
              </a:rPr>
              <a:t>证据等级：器件/模型主线 E2-E3；C00 R04 runner E0/FAIL。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241280" cy="41148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l"/>
            <a:r>
              <a:rPr sz="1500" b="0">
                <a:solidFill>
                  <a:srgbClr val="5C6971"/>
                </a:solidFill>
                <a:latin typeface="Microsoft YaHei"/>
              </a:rPr>
              <a:t>版本：4d18f0b | 仓库与报告检查通过 | IGZO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